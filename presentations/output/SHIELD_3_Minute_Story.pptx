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e6e6ac4a1dea4d5f" /><Relationship Type="http://schemas.openxmlformats.org/officeDocument/2006/relationships/extended-properties" Target="/docProps/app.xml" Id="R58103d52e6ba4bc8" /><Relationship Type="http://schemas.openxmlformats.org/officeDocument/2006/relationships/officeDocument" Target="/ppt/presentation.xml" Id="Rc9359a20022f4051" /></Relationships>
</file>

<file path=ppt/presentation.xml><?xml version="1.0" encoding="utf-8"?>
<p:presentation xmlns:p="http://schemas.openxmlformats.org/presentationml/2006/main">
  <p:sldMasterIdLst>
    <p:sldMasterId xmlns:r="http://schemas.openxmlformats.org/officeDocument/2006/relationships" id="2147483648" r:id="R4f3bc9cb56e64faa"/>
  </p:sldMasterIdLst>
  <p:notesMasterIdLst>
    <p:notesMasterId xmlns:r="http://schemas.openxmlformats.org/officeDocument/2006/relationships" r:id="Rb0d038faf2564353"/>
  </p:notesMasterIdLst>
  <p:sldIdLst>
    <p:sldId xmlns:r="http://schemas.openxmlformats.org/officeDocument/2006/relationships" id="256" r:id="R6f9828aab2ef428d"/>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505e0d7d70764bf7" /><Relationship Type="http://schemas.openxmlformats.org/officeDocument/2006/relationships/slideMaster" Target="/ppt/slideMasters/slideMaster1.xml" Id="R4f3bc9cb56e64faa" /><Relationship Type="http://schemas.openxmlformats.org/officeDocument/2006/relationships/notesMaster" Target="/ppt/notesMasters/notesMaster1.xml" Id="Rb0d038faf2564353" /><Relationship Type="http://schemas.openxmlformats.org/officeDocument/2006/relationships/presProps" Target="/ppt/presProps.xml" Id="Rf993ff7bdcd14802" /><Relationship Type="http://schemas.openxmlformats.org/officeDocument/2006/relationships/tableStyles" Target="/ppt/tableStyles.xml" Id="Rb7839766e6b844b5" /><Relationship Type="http://schemas.openxmlformats.org/officeDocument/2006/relationships/slide" Target="/ppt/slides/slide1.xml" Id="R6f9828aab2ef428d"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e903059a261043f0"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3cd7b3ac478c4d65" /><Relationship Type="http://schemas.openxmlformats.org/officeDocument/2006/relationships/notesMaster" Target="/ppt/notesMasters/notesMaster1.xml" Id="R72a9172e87b8488a"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0:00–0:30 — The business owner</a:t>
            </a:r>
          </a:p>
          <a:p xmlns:a="http://schemas.openxmlformats.org/drawingml/2006/main">
            <a:r>
              <a:t>Imagine you run a small bakery. Every morning, you open the doors, serve your customers, and hope the business keeps growing. Now you need a loan to buy a new oven. You bring your financial records to the bank. Behind those numbers are your savings, your staff, and your plans for the future. How can the bank understand the financial risk behind your application?</a:t>
            </a:r>
          </a:p>
          <a:p xmlns:a="http://schemas.openxmlformats.org/drawingml/2006/main">
            <a:r>
              <a:t/>
            </a:r>
          </a:p>
          <a:p xmlns:a="http://schemas.openxmlformats.org/drawingml/2006/main">
            <a:r>
              <a:t>0:30–1:00 — The research question</a:t>
            </a:r>
          </a:p>
          <a:p xmlns:a="http://schemas.openxmlformats.org/drawingml/2006/main">
            <a:r>
              <a:t>That question led to my final year project, SHIELD: SME Health Indicator and Evaluator for Loan Decisions. My research asks whether machine learning can help assess bankruptcy risk while making its predictions understandable. A missed warning can expose the bank to losses. A false alarm can make a viable business look risky. Both mistakes matter, so a useful system needs careful evaluation.</a:t>
            </a:r>
          </a:p>
          <a:p xmlns:a="http://schemas.openxmlformats.org/drawingml/2006/main">
            <a:r>
              <a:t/>
            </a:r>
          </a:p>
          <a:p xmlns:a="http://schemas.openxmlformats.org/drawingml/2006/main">
            <a:r>
              <a:t>1:00–1:40 — Financial records and risk estimate</a:t>
            </a:r>
          </a:p>
          <a:p xmlns:a="http://schemas.openxmlformats.org/drawingml/2006/main">
            <a:r>
              <a:t>I worked with historical company financial data and used Information Gain to select twenty financial indicators. It ranks indicators by how much information they provide about bankruptcy. These include profitability and borrowing measures. I then trained a Random Forest model, which combines the decisions of many decision trees to produce a risk estimate. Bankruptcy cases are relatively rare in the data, so I also investigated balancing the training examples and adjusting the point at which the model raises a warning.</a:t>
            </a:r>
          </a:p>
          <a:p xmlns:a="http://schemas.openxmlformats.org/drawingml/2006/main">
            <a:r>
              <a:t/>
            </a:r>
          </a:p>
          <a:p xmlns:a="http://schemas.openxmlformats.org/drawingml/2006/main">
            <a:r>
              <a:t>1:40–2:10 — Reasons behind the estimate</a:t>
            </a:r>
          </a:p>
          <a:p xmlns:a="http://schemas.openxmlformats.org/drawingml/2006/main">
            <a:r>
              <a:t>But a risk number alone leaves the loan officer asking, why? SHIELD uses an explanation method called SHAP to highlight which financial indicators push the model’s estimate up or down. The web prototype presents that estimate alongside the explanation. For our bakery owner, this gives the officer specific financial signals to investigate and discuss, while the officer remains responsible for the lending decision.</a:t>
            </a:r>
          </a:p>
          <a:p xmlns:a="http://schemas.openxmlformats.org/drawingml/2006/main">
            <a:r>
              <a:t/>
            </a:r>
          </a:p>
          <a:p xmlns:a="http://schemas.openxmlformats.org/drawingml/2006/main">
            <a:r>
              <a:t>2:10–2:45 — The finding and its trade-off</a:t>
            </a:r>
          </a:p>
          <a:p xmlns:a="http://schemas.openxmlformats.org/drawingml/2006/main">
            <a:r>
              <a:t>In one exploratory experiment, the model flagged thirty-five of forty-four bankrupt companies. It also flagged eighty-six companies that were not bankrupt. That shows the trade-off: catching more warning signs can bring more false alarms. Because the evaluation data had already been reused during development, these findings are preliminary. Further testing on fresh data, including data relevant to Malaysian SMEs, is needed before practical use.</a:t>
            </a:r>
          </a:p>
          <a:p xmlns:a="http://schemas.openxmlformats.org/drawingml/2006/main">
            <a:r>
              <a:t/>
            </a:r>
          </a:p>
          <a:p xmlns:a="http://schemas.openxmlformats.org/drawingml/2006/main">
            <a:r>
              <a:t>2:45–3:00 — The human purpose</a:t>
            </a:r>
          </a:p>
          <a:p xmlns:a="http://schemas.openxmlformats.org/drawingml/2006/main">
            <a:r>
              <a:t>My aim is to help loan officers make more informed decisions, with financial evidence they can question and understand. For a business owner asking for that new oven, the decision should come with reasons. Thank you.</a:t>
            </a:r>
          </a:p>
          <a:p xmlns:a="http://schemas.openxmlformats.org/drawingml/2006/main">
            <a:r>
              <a:t/>
            </a:r>
          </a:p>
          <a:p xmlns:a="http://schemas.openxmlformats.org/drawingml/2006/main">
            <a:r>
              <a:t>SOURCES AND INTERPRETATION</a:t>
            </a:r>
          </a:p>
          <a:p xmlns:a="http://schemas.openxmlformats.org/drawingml/2006/main">
            <a:r>
              <a:t/>
            </a:r>
          </a:p>
          <a:p xmlns:a="http://schemas.openxmlformats.org/drawingml/2006/main">
            <a:r>
              <a:t>Project identity and prototype: README.md and UPDATE.md in the SHIELD workspace. Random Forest and SHAP implementation confirmed in backend/main.py.</a:t>
            </a:r>
          </a:p>
          <a:p xmlns:a="http://schemas.openxmlformats.org/drawingml/2006/main">
            <a:r>
              <a:t/>
            </a:r>
          </a:p>
          <a:p xmlns:a="http://schemas.openxmlformats.org/drawingml/2006/main">
            <a:r>
              <a:t>Exploratory experiment: reports/focused_improvement/ba8ead7ba47c9dce/holdout_results.csv, row RF_SMOTE025_LEAF3 / Frozen OOF threshold 0.27969295288128426. TP=35, FN=9, FP=86, TN=1234. Bankrupt-class recall=35/44=79.545%; precision=35/121=28.926%. These are results of an exploratory research candidate, not a claim about the deployed prototype.</a:t>
            </a:r>
          </a:p>
          <a:p xmlns:a="http://schemas.openxmlformats.org/drawingml/2006/main">
            <a:r>
              <a:t/>
            </a:r>
          </a:p>
          <a:p xmlns:a="http://schemas.openxmlformats.org/drawingml/2006/main">
            <a:r>
              <a:t>frozen_choice.json and run_config.json label the holdout as historically reused and exploratory. Do not call it independent test evidence or validated Malaysian SME performance. Current project documentation names a foreign bankruptcy dataset; geographic origin was not independently verified for this presentation.</a:t>
            </a:r>
          </a:p>
          <a:p xmlns:a="http://schemas.openxmlformats.org/drawingml/2006/main">
            <a:r>
              <a:t/>
            </a:r>
          </a:p>
          <a:p xmlns:a="http://schemas.openxmlformats.org/drawingml/2006/main">
            <a:r>
              <a:t>The bakery owner is an imagined scenario. No claim is made that SHIELD has assessed a real bakery, improved lending outcomes, or demonstrated future-warning lead time.</a:t>
            </a:r>
          </a:p>
          <a:p xmlns:a="http://schemas.openxmlformats.org/drawingml/2006/main">
            <a:r>
              <a:t/>
            </a:r>
          </a:p>
          <a:p xmlns:a="http://schemas.openxmlformats.org/drawingml/2006/main">
            <a:r>
              <a:t>Financial records are twenty selected indicators in the IG20 experiment. SHAP explains model contributions, not causal relationships.</a:t>
            </a:r>
          </a:p>
          <a:p xmlns:a="http://schemas.openxmlformats.org/drawingml/2006/main">
            <a:r>
              <a:t/>
            </a:r>
          </a:p>
          <a:p xmlns:a="http://schemas.openxmlformats.org/drawingml/2006/main">
            <a:r>
              <a:t>Illustration: generated with the built-in ImageGen tool for this presentation. Fictional person and business. Asset: presentations/.build-shield-3min/business-owner.png.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4a9c653725a24025"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612d8528119444ee"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4a1ba3f7b532469d"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1bc4bce91ca6459d"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69033d7fba1e4e74"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2b5d85b97da448cd"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F0C38D6-E67E-47E7-B359-7E0886F4FC73}"/>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7B1A35C6-F4E1-4F26-A02E-8D37C556AAC7}"/>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3A4AF2B6-5EA6-41EC-92D1-9EE16289223D}"/>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EF37FE95-BF1B-45BE-B034-274F51501605}"/>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FDF21A8E-0AC2-4B53-B192-FD8DB9FF4231}"/>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3544D94E-A754-47FF-8CE8-E121D5D141D9}"/>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BFAF0156-26CA-484C-A501-512F71A7A450}"/>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26338AA1-ABB9-4431-9F12-DDD912DBB384}"/>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E83DF23-1866-402B-99C8-EA132A064CDF}"/>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73580B0B-9748-4351-9724-62CB096E3E20}"/>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391284240aba4bcb" /><Relationship Type="http://schemas.openxmlformats.org/officeDocument/2006/relationships/slideLayout" Target="/ppt/slideLayouts/slideLayout1.xml" Id="R53508597ad2240e2" /><Relationship Type="http://schemas.openxmlformats.org/officeDocument/2006/relationships/slideLayout" Target="/ppt/slideLayouts/slideLayout2.xml" Id="R4113f808328a449e" /><Relationship Type="http://schemas.openxmlformats.org/officeDocument/2006/relationships/slideLayout" Target="/ppt/slideLayouts/slideLayout3.xml" Id="R585f722434364e37" /><Relationship Type="http://schemas.openxmlformats.org/officeDocument/2006/relationships/slideLayout" Target="/ppt/slideLayouts/slideLayout4.xml" Id="Re592537fb2084a64" /><Relationship Type="http://schemas.openxmlformats.org/officeDocument/2006/relationships/slideLayout" Target="/ppt/slideLayouts/slideLayout5.xml" Id="R5417ec46cf374102" /><Relationship Type="http://schemas.openxmlformats.org/officeDocument/2006/relationships/slideLayout" Target="/ppt/slideLayouts/slideLayout6.xml" Id="R5f841c8e1f434eaf"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53508597ad2240e2"/>
    <p:sldLayoutId xmlns:r="http://schemas.openxmlformats.org/officeDocument/2006/relationships" id="2147483650" r:id="R4113f808328a449e"/>
    <p:sldLayoutId xmlns:r="http://schemas.openxmlformats.org/officeDocument/2006/relationships" id="2147483651" r:id="R585f722434364e37"/>
    <p:sldLayoutId xmlns:r="http://schemas.openxmlformats.org/officeDocument/2006/relationships" id="2147483652" r:id="Re592537fb2084a64"/>
    <p:sldLayoutId xmlns:r="http://schemas.openxmlformats.org/officeDocument/2006/relationships" id="2147483653" r:id="R5417ec46cf374102"/>
    <p:sldLayoutId xmlns:r="http://schemas.openxmlformats.org/officeDocument/2006/relationships" id="2147483654" r:id="R5f841c8e1f434eaf"/>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4cfceb76fe374c06" /><Relationship Type="http://schemas.openxmlformats.org/officeDocument/2006/relationships/image" Target="/ppt/media/image.png" Id="Rb978bef0beef447f" /><Relationship Type="http://schemas.openxmlformats.org/officeDocument/2006/relationships/notesSlide" Target="/ppt/notesSlides/notesSlide1.xml" Id="R7746715a160f4248" /></Relationships>
</file>

<file path=ppt/slides/slide1.xml><?xml version="1.0" encoding="utf-8"?>
<p:sld xmlns:p="http://schemas.openxmlformats.org/presentationml/2006/main">
  <p:cSld>
    <p:bg>
      <p:bgPr>
        <a:solidFill xmlns:a="http://schemas.openxmlformats.org/drawingml/2006/main">
          <a:srgbClr val="F8F5EF"/>
        </a:solidFill>
      </p:bgPr>
    </p:bg>
    <p:spTree>
      <p:nvGrpSpPr>
        <p:cNvPr id="1" name=""/>
        <p:cNvGrpSpPr/>
        <p:nvPr/>
      </p:nvGrpSpPr>
      <p:grpSpPr>
        <a:xfrm xmlns:a="http://schemas.openxmlformats.org/drawingml/2006/main"/>
      </p:grpSpPr>
      <p:sp>
        <p:nvSpPr>
          <p:cNvPr id="14" name="project-title">
            <a:extLst xmlns:a="http://schemas.openxmlformats.org/drawingml/2006/main">
              <a:ext uri="{FF2B5EF4-FFF2-40B4-BE49-F238E27FC236}">
                <a16:creationId xmlns:a16="http://schemas.microsoft.com/office/drawing/2014/main" id="{28CA738F-0AEE-44D1-B756-A4D159B4E4E4}"/>
              </a:ext>
            </a:extLst>
          </p:cNvPr>
          <p:cNvSpPr>
            <a:spLocks xmlns:a="http://schemas.openxmlformats.org/drawingml/2006/main" noGrp="1"/>
          </p:cNvSpPr>
          <p:nvPr/>
        </p:nvSpPr>
        <p:spPr>
          <a:xfrm xmlns:a="http://schemas.openxmlformats.org/drawingml/2006/main">
            <a:off x="609600" y="447675"/>
            <a:ext cx="542925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6300" b="1">
                <a:solidFill>
                  <a:srgbClr val="242A2C"/>
                </a:solidFill>
                <a:latin typeface="Arial"/>
                <a:ea typeface="Arial"/>
                <a:cs typeface="Arial"/>
              </a:defRPr>
            </a:defPPr>
          </a:lstStyle>
          <a:p xmlns:a="http://schemas.openxmlformats.org/drawingml/2006/main">
            <a:pPr algn="l">
              <a:defRPr sz="6300" b="1">
                <a:solidFill>
                  <a:srgbClr val="242A2C"/>
                </a:solidFill>
                <a:latin typeface="Arial"/>
                <a:ea typeface="Arial"/>
                <a:cs typeface="Arial"/>
              </a:defRPr>
            </a:pPr>
            <a:r>
              <a:rPr sz="6300" b="1">
                <a:solidFill>
                  <a:srgbClr val="242A2C"/>
                </a:solidFill>
                <a:latin typeface="Arial"/>
                <a:ea typeface="Arial"/>
                <a:cs typeface="Arial"/>
              </a:rPr>
              <a:t>SHIELD</a:t>
            </a:r>
          </a:p>
        </p:txBody>
      </p:sp>
      <p:sp>
        <p:nvSpPr>
          <p:cNvPr id="2" name="research-title">
            <a:extLst xmlns:a="http://schemas.openxmlformats.org/drawingml/2006/main">
              <a:ext uri="{FF2B5EF4-FFF2-40B4-BE49-F238E27FC236}">
                <a16:creationId xmlns:a16="http://schemas.microsoft.com/office/drawing/2014/main" id="{26A3A7C1-86E4-47CC-A05A-75966B3BDB57}"/>
              </a:ext>
            </a:extLst>
          </p:cNvPr>
          <p:cNvSpPr>
            <a:spLocks xmlns:a="http://schemas.openxmlformats.org/drawingml/2006/main" noGrp="1"/>
          </p:cNvSpPr>
          <p:nvPr/>
        </p:nvSpPr>
        <p:spPr>
          <a:xfrm xmlns:a="http://schemas.openxmlformats.org/drawingml/2006/main">
            <a:off x="638175" y="1524000"/>
            <a:ext cx="542925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000" b="1">
                <a:solidFill>
                  <a:srgbClr val="242A2C"/>
                </a:solidFill>
                <a:latin typeface="Arial"/>
                <a:ea typeface="Arial"/>
                <a:cs typeface="Arial"/>
              </a:defRPr>
            </a:defPPr>
          </a:lstStyle>
          <a:p xmlns:a="http://schemas.openxmlformats.org/drawingml/2006/main">
            <a:pPr algn="l">
              <a:defRPr sz="3000" b="1">
                <a:solidFill>
                  <a:srgbClr val="242A2C"/>
                </a:solidFill>
                <a:latin typeface="Arial"/>
                <a:ea typeface="Arial"/>
                <a:cs typeface="Arial"/>
              </a:defRPr>
            </a:pPr>
            <a:r>
              <a:rPr sz="3000" b="1">
                <a:solidFill>
                  <a:srgbClr val="242A2C"/>
                </a:solidFill>
                <a:latin typeface="Arial"/>
                <a:ea typeface="Arial"/>
                <a:cs typeface="Arial"/>
              </a:rPr>
              <a:t>Understanding financial risk</a:t>
            </a:r>
          </a:p>
          <a:p xmlns:a="http://schemas.openxmlformats.org/drawingml/2006/main">
            <a:pPr algn="l">
              <a:defRPr sz="3000" b="1">
                <a:solidFill>
                  <a:srgbClr val="242A2C"/>
                </a:solidFill>
                <a:latin typeface="Arial"/>
                <a:ea typeface="Arial"/>
                <a:cs typeface="Arial"/>
              </a:defRPr>
            </a:pPr>
            <a:r>
              <a:rPr sz="3000" b="1">
                <a:solidFill>
                  <a:srgbClr val="242A2C"/>
                </a:solidFill>
                <a:latin typeface="Arial"/>
                <a:ea typeface="Arial"/>
                <a:cs typeface="Arial"/>
              </a:rPr>
              <a:t>before a loan decision</a:t>
            </a:r>
          </a:p>
        </p:txBody>
      </p:sp>
      <p:sp>
        <p:nvSpPr>
          <p:cNvPr id="3" name="input-heading">
            <a:extLst xmlns:a="http://schemas.openxmlformats.org/drawingml/2006/main">
              <a:ext uri="{FF2B5EF4-FFF2-40B4-BE49-F238E27FC236}">
                <a16:creationId xmlns:a16="http://schemas.microsoft.com/office/drawing/2014/main" id="{FC55B5AE-18CB-4239-8238-C35BA195FB1B}"/>
              </a:ext>
            </a:extLst>
          </p:cNvPr>
          <p:cNvSpPr>
            <a:spLocks xmlns:a="http://schemas.openxmlformats.org/drawingml/2006/main" noGrp="1"/>
          </p:cNvSpPr>
          <p:nvPr/>
        </p:nvSpPr>
        <p:spPr>
          <a:xfrm xmlns:a="http://schemas.openxmlformats.org/drawingml/2006/main">
            <a:off x="647700" y="2914650"/>
            <a:ext cx="4857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75" b="1">
                <a:solidFill>
                  <a:srgbClr val="242A2C"/>
                </a:solidFill>
                <a:latin typeface="Arial"/>
                <a:ea typeface="Arial"/>
                <a:cs typeface="Arial"/>
              </a:defRPr>
            </a:defPPr>
          </a:lstStyle>
          <a:p xmlns:a="http://schemas.openxmlformats.org/drawingml/2006/main">
            <a:pPr algn="l">
              <a:defRPr sz="2175" b="1">
                <a:solidFill>
                  <a:srgbClr val="242A2C"/>
                </a:solidFill>
                <a:latin typeface="Arial"/>
                <a:ea typeface="Arial"/>
                <a:cs typeface="Arial"/>
              </a:defRPr>
            </a:pPr>
            <a:r>
              <a:rPr sz="2175" b="1">
                <a:solidFill>
                  <a:srgbClr val="242A2C"/>
                </a:solidFill>
                <a:latin typeface="Arial"/>
                <a:ea typeface="Arial"/>
                <a:cs typeface="Arial"/>
              </a:rPr>
              <a:t>Financial records</a:t>
            </a:r>
          </a:p>
        </p:txBody>
      </p:sp>
      <p:sp>
        <p:nvSpPr>
          <p:cNvPr id="4" name="input-detail">
            <a:extLst xmlns:a="http://schemas.openxmlformats.org/drawingml/2006/main">
              <a:ext uri="{FF2B5EF4-FFF2-40B4-BE49-F238E27FC236}">
                <a16:creationId xmlns:a16="http://schemas.microsoft.com/office/drawing/2014/main" id="{F1428D49-0924-4C7D-B68C-34E9ADA167AE}"/>
              </a:ext>
            </a:extLst>
          </p:cNvPr>
          <p:cNvSpPr>
            <a:spLocks xmlns:a="http://schemas.openxmlformats.org/drawingml/2006/main" noGrp="1"/>
          </p:cNvSpPr>
          <p:nvPr/>
        </p:nvSpPr>
        <p:spPr>
          <a:xfrm xmlns:a="http://schemas.openxmlformats.org/drawingml/2006/main">
            <a:off x="647700" y="3305175"/>
            <a:ext cx="52197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0">
                <a:solidFill>
                  <a:srgbClr val="575C5B"/>
                </a:solidFill>
                <a:latin typeface="Arial"/>
                <a:ea typeface="Arial"/>
                <a:cs typeface="Arial"/>
              </a:defRPr>
            </a:defPPr>
          </a:lstStyle>
          <a:p xmlns:a="http://schemas.openxmlformats.org/drawingml/2006/main">
            <a:pPr algn="l">
              <a:defRPr sz="1800" b="0">
                <a:solidFill>
                  <a:srgbClr val="575C5B"/>
                </a:solidFill>
                <a:latin typeface="Arial"/>
                <a:ea typeface="Arial"/>
                <a:cs typeface="Arial"/>
              </a:defRPr>
            </a:pPr>
            <a:r>
              <a:rPr sz="1800" b="0">
                <a:solidFill>
                  <a:srgbClr val="575C5B"/>
                </a:solidFill>
                <a:latin typeface="Arial"/>
                <a:ea typeface="Arial"/>
                <a:cs typeface="Arial"/>
              </a:rPr>
              <a:t>20 indicators selected with Information Gain</a:t>
            </a:r>
          </a:p>
        </p:txBody>
      </p:sp>
      <p:sp>
        <p:nvSpPr>
          <p:cNvPr id="5" name="prediction-heading">
            <a:extLst xmlns:a="http://schemas.openxmlformats.org/drawingml/2006/main">
              <a:ext uri="{FF2B5EF4-FFF2-40B4-BE49-F238E27FC236}">
                <a16:creationId xmlns:a16="http://schemas.microsoft.com/office/drawing/2014/main" id="{16E93353-4C65-4221-9387-01750606D25E}"/>
              </a:ext>
            </a:extLst>
          </p:cNvPr>
          <p:cNvSpPr>
            <a:spLocks xmlns:a="http://schemas.openxmlformats.org/drawingml/2006/main" noGrp="1"/>
          </p:cNvSpPr>
          <p:nvPr/>
        </p:nvSpPr>
        <p:spPr>
          <a:xfrm xmlns:a="http://schemas.openxmlformats.org/drawingml/2006/main">
            <a:off x="647700" y="3867150"/>
            <a:ext cx="4857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75" b="1">
                <a:solidFill>
                  <a:srgbClr val="242A2C"/>
                </a:solidFill>
                <a:latin typeface="Arial"/>
                <a:ea typeface="Arial"/>
                <a:cs typeface="Arial"/>
              </a:defRPr>
            </a:defPPr>
          </a:lstStyle>
          <a:p xmlns:a="http://schemas.openxmlformats.org/drawingml/2006/main">
            <a:pPr algn="l">
              <a:defRPr sz="2175" b="1">
                <a:solidFill>
                  <a:srgbClr val="242A2C"/>
                </a:solidFill>
                <a:latin typeface="Arial"/>
                <a:ea typeface="Arial"/>
                <a:cs typeface="Arial"/>
              </a:defRPr>
            </a:pPr>
            <a:r>
              <a:rPr sz="2175" b="1">
                <a:solidFill>
                  <a:srgbClr val="242A2C"/>
                </a:solidFill>
                <a:latin typeface="Arial"/>
                <a:ea typeface="Arial"/>
                <a:cs typeface="Arial"/>
              </a:rPr>
              <a:t>Risk estimate</a:t>
            </a:r>
          </a:p>
        </p:txBody>
      </p:sp>
      <p:sp>
        <p:nvSpPr>
          <p:cNvPr id="6" name="prediction-detail">
            <a:extLst xmlns:a="http://schemas.openxmlformats.org/drawingml/2006/main">
              <a:ext uri="{FF2B5EF4-FFF2-40B4-BE49-F238E27FC236}">
                <a16:creationId xmlns:a16="http://schemas.microsoft.com/office/drawing/2014/main" id="{3CBCFD46-E5B2-42DF-B00D-C699BB07CADD}"/>
              </a:ext>
            </a:extLst>
          </p:cNvPr>
          <p:cNvSpPr>
            <a:spLocks xmlns:a="http://schemas.openxmlformats.org/drawingml/2006/main" noGrp="1"/>
          </p:cNvSpPr>
          <p:nvPr/>
        </p:nvSpPr>
        <p:spPr>
          <a:xfrm xmlns:a="http://schemas.openxmlformats.org/drawingml/2006/main">
            <a:off x="647700" y="4257675"/>
            <a:ext cx="4953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0">
                <a:solidFill>
                  <a:srgbClr val="575C5B"/>
                </a:solidFill>
                <a:latin typeface="Arial"/>
                <a:ea typeface="Arial"/>
                <a:cs typeface="Arial"/>
              </a:defRPr>
            </a:defPPr>
          </a:lstStyle>
          <a:p xmlns:a="http://schemas.openxmlformats.org/drawingml/2006/main">
            <a:pPr algn="l">
              <a:defRPr sz="1800" b="0">
                <a:solidFill>
                  <a:srgbClr val="575C5B"/>
                </a:solidFill>
                <a:latin typeface="Arial"/>
                <a:ea typeface="Arial"/>
                <a:cs typeface="Arial"/>
              </a:defRPr>
            </a:pPr>
            <a:r>
              <a:rPr sz="1800" b="0">
                <a:solidFill>
                  <a:srgbClr val="575C5B"/>
                </a:solidFill>
                <a:latin typeface="Arial"/>
                <a:ea typeface="Arial"/>
                <a:cs typeface="Arial"/>
              </a:rPr>
              <a:t>Random Forest prediction</a:t>
            </a:r>
          </a:p>
        </p:txBody>
      </p:sp>
      <p:sp>
        <p:nvSpPr>
          <p:cNvPr id="7" name="explanation-heading">
            <a:extLst xmlns:a="http://schemas.openxmlformats.org/drawingml/2006/main">
              <a:ext uri="{FF2B5EF4-FFF2-40B4-BE49-F238E27FC236}">
                <a16:creationId xmlns:a16="http://schemas.microsoft.com/office/drawing/2014/main" id="{47464420-E954-4A19-8110-80D7CE62A9EE}"/>
              </a:ext>
            </a:extLst>
          </p:cNvPr>
          <p:cNvSpPr>
            <a:spLocks xmlns:a="http://schemas.openxmlformats.org/drawingml/2006/main" noGrp="1"/>
          </p:cNvSpPr>
          <p:nvPr/>
        </p:nvSpPr>
        <p:spPr>
          <a:xfrm xmlns:a="http://schemas.openxmlformats.org/drawingml/2006/main">
            <a:off x="647700" y="4819650"/>
            <a:ext cx="5143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75" b="1">
                <a:solidFill>
                  <a:srgbClr val="242A2C"/>
                </a:solidFill>
                <a:latin typeface="Arial"/>
                <a:ea typeface="Arial"/>
                <a:cs typeface="Arial"/>
              </a:defRPr>
            </a:defPPr>
          </a:lstStyle>
          <a:p xmlns:a="http://schemas.openxmlformats.org/drawingml/2006/main">
            <a:pPr algn="l">
              <a:defRPr sz="2175" b="1">
                <a:solidFill>
                  <a:srgbClr val="242A2C"/>
                </a:solidFill>
                <a:latin typeface="Arial"/>
                <a:ea typeface="Arial"/>
                <a:cs typeface="Arial"/>
              </a:defRPr>
            </a:pPr>
            <a:r>
              <a:rPr sz="2175" b="1">
                <a:solidFill>
                  <a:srgbClr val="242A2C"/>
                </a:solidFill>
                <a:latin typeface="Arial"/>
                <a:ea typeface="Arial"/>
                <a:cs typeface="Arial"/>
              </a:rPr>
              <a:t>Reasons behind the estimate</a:t>
            </a:r>
          </a:p>
        </p:txBody>
      </p:sp>
      <p:sp>
        <p:nvSpPr>
          <p:cNvPr id="8" name="explanation-detail">
            <a:extLst xmlns:a="http://schemas.openxmlformats.org/drawingml/2006/main">
              <a:ext uri="{FF2B5EF4-FFF2-40B4-BE49-F238E27FC236}">
                <a16:creationId xmlns:a16="http://schemas.microsoft.com/office/drawing/2014/main" id="{46D84B8E-E102-424E-A1CB-903132A79D5B}"/>
              </a:ext>
            </a:extLst>
          </p:cNvPr>
          <p:cNvSpPr>
            <a:spLocks xmlns:a="http://schemas.openxmlformats.org/drawingml/2006/main" noGrp="1"/>
          </p:cNvSpPr>
          <p:nvPr/>
        </p:nvSpPr>
        <p:spPr>
          <a:xfrm xmlns:a="http://schemas.openxmlformats.org/drawingml/2006/main">
            <a:off x="647700" y="5210175"/>
            <a:ext cx="5334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0">
                <a:solidFill>
                  <a:srgbClr val="575C5B"/>
                </a:solidFill>
                <a:latin typeface="Arial"/>
                <a:ea typeface="Arial"/>
                <a:cs typeface="Arial"/>
              </a:defRPr>
            </a:defPPr>
          </a:lstStyle>
          <a:p xmlns:a="http://schemas.openxmlformats.org/drawingml/2006/main">
            <a:pPr algn="l">
              <a:defRPr sz="1800" b="0">
                <a:solidFill>
                  <a:srgbClr val="575C5B"/>
                </a:solidFill>
                <a:latin typeface="Arial"/>
                <a:ea typeface="Arial"/>
                <a:cs typeface="Arial"/>
              </a:defRPr>
            </a:pPr>
            <a:r>
              <a:rPr sz="1800" b="0">
                <a:solidFill>
                  <a:srgbClr val="575C5B"/>
                </a:solidFill>
                <a:latin typeface="Arial"/>
                <a:ea typeface="Arial"/>
                <a:cs typeface="Arial"/>
              </a:rPr>
              <a:t>SHAP explanations for human review</a:t>
            </a:r>
          </a:p>
        </p:txBody>
      </p:sp>
      <p:pic>
        <p:nvPicPr>
          <p:cNvPr id="9" name="">
            <a:extLst xmlns:a="http://schemas.openxmlformats.org/drawingml/2006/main">
              <a:ext uri="{FF2B5EF4-FFF2-40B4-BE49-F238E27FC236}">
                <a16:creationId xmlns:a16="http://schemas.microsoft.com/office/drawing/2014/main" id="{73E7A983-A2F2-4E53-A33A-44EFCD6E40B8}"/>
              </a:ext>
            </a:extLst>
          </p:cNvPr>
          <p:cNvPicPr>
            <a:picLocks xmlns:a="http://schemas.openxmlformats.org/drawingml/2006/main" noChangeAspect="1"/>
          </p:cNvPicPr>
          <p:nvPr/>
        </p:nvPicPr>
        <p:blipFill>
          <a:blip xmlns:r="http://schemas.openxmlformats.org/officeDocument/2006/relationships" xmlns:a="http://schemas.openxmlformats.org/drawingml/2006/main" r:embed="Rb978bef0beef447f"/>
          <a:stretch xmlns:a="http://schemas.openxmlformats.org/drawingml/2006/main"/>
        </p:blipFill>
        <p:spPr>
          <a:xfrm xmlns:a="http://schemas.openxmlformats.org/drawingml/2006/main">
            <a:off x="6193631" y="609600"/>
            <a:ext cx="5614988" cy="3743325"/>
          </a:xfrm>
          <a:prstGeom xmlns:a="http://schemas.openxmlformats.org/drawingml/2006/main" prst="rect">
            <a:avLst/>
          </a:prstGeom>
        </p:spPr>
      </p:pic>
      <p:sp>
        <p:nvSpPr>
          <p:cNvPr id="10" name="finding-count">
            <a:extLst xmlns:a="http://schemas.openxmlformats.org/drawingml/2006/main">
              <a:ext uri="{FF2B5EF4-FFF2-40B4-BE49-F238E27FC236}">
                <a16:creationId xmlns:a16="http://schemas.microsoft.com/office/drawing/2014/main" id="{358A585C-888F-4AFE-9157-40983246D490}"/>
              </a:ext>
            </a:extLst>
          </p:cNvPr>
          <p:cNvSpPr>
            <a:spLocks xmlns:a="http://schemas.openxmlformats.org/drawingml/2006/main" noGrp="1"/>
          </p:cNvSpPr>
          <p:nvPr/>
        </p:nvSpPr>
        <p:spPr>
          <a:xfrm xmlns:a="http://schemas.openxmlformats.org/drawingml/2006/main">
            <a:off x="6486525" y="4552950"/>
            <a:ext cx="4572000" cy="676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4275" b="1">
                <a:solidFill>
                  <a:srgbClr val="A87513"/>
                </a:solidFill>
                <a:latin typeface="Arial"/>
                <a:ea typeface="Arial"/>
                <a:cs typeface="Arial"/>
              </a:defRPr>
            </a:defPPr>
          </a:lstStyle>
          <a:p xmlns:a="http://schemas.openxmlformats.org/drawingml/2006/main">
            <a:pPr algn="l">
              <a:defRPr sz="4275" b="1">
                <a:solidFill>
                  <a:srgbClr val="A87513"/>
                </a:solidFill>
                <a:latin typeface="Arial"/>
                <a:ea typeface="Arial"/>
                <a:cs typeface="Arial"/>
              </a:defRPr>
            </a:pPr>
            <a:r>
              <a:rPr sz="4275" b="1">
                <a:solidFill>
                  <a:srgbClr val="A87513"/>
                </a:solidFill>
                <a:latin typeface="Arial"/>
                <a:ea typeface="Arial"/>
                <a:cs typeface="Arial"/>
              </a:rPr>
              <a:t>35 of 44</a:t>
            </a:r>
          </a:p>
        </p:txBody>
      </p:sp>
      <p:sp>
        <p:nvSpPr>
          <p:cNvPr id="11" name="finding-description">
            <a:extLst xmlns:a="http://schemas.openxmlformats.org/drawingml/2006/main">
              <a:ext uri="{FF2B5EF4-FFF2-40B4-BE49-F238E27FC236}">
                <a16:creationId xmlns:a16="http://schemas.microsoft.com/office/drawing/2014/main" id="{44DC1424-121C-4B90-8E67-53F3D2AF0C46}"/>
              </a:ext>
            </a:extLst>
          </p:cNvPr>
          <p:cNvSpPr>
            <a:spLocks xmlns:a="http://schemas.openxmlformats.org/drawingml/2006/main" noGrp="1"/>
          </p:cNvSpPr>
          <p:nvPr/>
        </p:nvSpPr>
        <p:spPr>
          <a:xfrm xmlns:a="http://schemas.openxmlformats.org/drawingml/2006/main">
            <a:off x="6496050" y="5248275"/>
            <a:ext cx="4762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1">
                <a:solidFill>
                  <a:srgbClr val="242A2C"/>
                </a:solidFill>
                <a:latin typeface="Arial"/>
                <a:ea typeface="Arial"/>
                <a:cs typeface="Arial"/>
              </a:defRPr>
            </a:defPPr>
          </a:lstStyle>
          <a:p xmlns:a="http://schemas.openxmlformats.org/drawingml/2006/main">
            <a:pPr algn="l">
              <a:defRPr sz="1950" b="1">
                <a:solidFill>
                  <a:srgbClr val="242A2C"/>
                </a:solidFill>
                <a:latin typeface="Arial"/>
                <a:ea typeface="Arial"/>
                <a:cs typeface="Arial"/>
              </a:defRPr>
            </a:pPr>
            <a:r>
              <a:rPr sz="1950" b="1">
                <a:solidFill>
                  <a:srgbClr val="242A2C"/>
                </a:solidFill>
                <a:latin typeface="Arial"/>
                <a:ea typeface="Arial"/>
                <a:cs typeface="Arial"/>
              </a:rPr>
              <a:t>bankrupt companies flagged</a:t>
            </a:r>
          </a:p>
        </p:txBody>
      </p:sp>
      <p:sp>
        <p:nvSpPr>
          <p:cNvPr id="12" name="false-alarms">
            <a:extLst xmlns:a="http://schemas.openxmlformats.org/drawingml/2006/main">
              <a:ext uri="{FF2B5EF4-FFF2-40B4-BE49-F238E27FC236}">
                <a16:creationId xmlns:a16="http://schemas.microsoft.com/office/drawing/2014/main" id="{79FC2CAC-8BAC-4E29-85B5-5E02BD8EEFB5}"/>
              </a:ext>
            </a:extLst>
          </p:cNvPr>
          <p:cNvSpPr>
            <a:spLocks xmlns:a="http://schemas.openxmlformats.org/drawingml/2006/main" noGrp="1"/>
          </p:cNvSpPr>
          <p:nvPr/>
        </p:nvSpPr>
        <p:spPr>
          <a:xfrm xmlns:a="http://schemas.openxmlformats.org/drawingml/2006/main">
            <a:off x="6496050" y="5705475"/>
            <a:ext cx="50863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0">
                <a:solidFill>
                  <a:srgbClr val="575C5B"/>
                </a:solidFill>
                <a:latin typeface="Arial"/>
                <a:ea typeface="Arial"/>
                <a:cs typeface="Arial"/>
              </a:defRPr>
            </a:defPPr>
          </a:lstStyle>
          <a:p xmlns:a="http://schemas.openxmlformats.org/drawingml/2006/main">
            <a:pPr algn="l">
              <a:defRPr sz="1725" b="0">
                <a:solidFill>
                  <a:srgbClr val="575C5B"/>
                </a:solidFill>
                <a:latin typeface="Arial"/>
                <a:ea typeface="Arial"/>
                <a:cs typeface="Arial"/>
              </a:defRPr>
            </a:pPr>
            <a:r>
              <a:rPr sz="1725" b="0">
                <a:solidFill>
                  <a:srgbClr val="575C5B"/>
                </a:solidFill>
                <a:latin typeface="Arial"/>
                <a:ea typeface="Arial"/>
                <a:cs typeface="Arial"/>
              </a:rPr>
              <a:t>86 non-bankrupt companies also flagged</a:t>
            </a:r>
          </a:p>
        </p:txBody>
      </p:sp>
      <p:sp>
        <p:nvSpPr>
          <p:cNvPr id="13" name="result-caveat">
            <a:extLst xmlns:a="http://schemas.openxmlformats.org/drawingml/2006/main">
              <a:ext uri="{FF2B5EF4-FFF2-40B4-BE49-F238E27FC236}">
                <a16:creationId xmlns:a16="http://schemas.microsoft.com/office/drawing/2014/main" id="{6B5FB954-77D1-4AA8-8050-B624BE818B9F}"/>
              </a:ext>
            </a:extLst>
          </p:cNvPr>
          <p:cNvSpPr>
            <a:spLocks xmlns:a="http://schemas.openxmlformats.org/drawingml/2006/main" noGrp="1"/>
          </p:cNvSpPr>
          <p:nvPr/>
        </p:nvSpPr>
        <p:spPr>
          <a:xfrm xmlns:a="http://schemas.openxmlformats.org/drawingml/2006/main">
            <a:off x="647700" y="6229350"/>
            <a:ext cx="10953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0">
                <a:solidFill>
                  <a:srgbClr val="575C5B"/>
                </a:solidFill>
                <a:latin typeface="Arial"/>
                <a:ea typeface="Arial"/>
                <a:cs typeface="Arial"/>
              </a:defRPr>
            </a:defPPr>
          </a:lstStyle>
          <a:p xmlns:a="http://schemas.openxmlformats.org/drawingml/2006/main">
            <a:pPr algn="l">
              <a:defRPr sz="1725" b="0">
                <a:solidFill>
                  <a:srgbClr val="575C5B"/>
                </a:solidFill>
                <a:latin typeface="Arial"/>
                <a:ea typeface="Arial"/>
                <a:cs typeface="Arial"/>
              </a:defRPr>
            </a:pPr>
            <a:r>
              <a:rPr sz="1725" b="0">
                <a:solidFill>
                  <a:srgbClr val="575C5B"/>
                </a:solidFill>
                <a:latin typeface="Arial"/>
                <a:ea typeface="Arial"/>
                <a:cs typeface="Arial"/>
              </a:rPr>
              <a:t>Exploratory evaluation. Further validation needed.</a:t>
            </a:r>
          </a:p>
        </p:txBody>
      </p:sp>
    </p:spTree>
    <p:extLst>
      <p:ext uri="{BB962C8B-B14F-4D97-AF65-F5344CB8AC3E}">
        <p14:creationId xmlns:p14="http://schemas.microsoft.com/office/powerpoint/2010/main" val="142122887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2026-10-12T07:20:02.1600000Z</dcterms:created>
  <dcterms:modified xsi:type="dcterms:W3CDTF">2026-10-12T07:20:02.1600000Z</dcterms:modified>
</coreProperties>
</file>